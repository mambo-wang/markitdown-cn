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34491" y="1119160"/>
            <a:ext cx="3657509" cy="36575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0" y="4419490"/>
            <a:ext cx="2438339" cy="243833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7149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894" y="1228696"/>
            <a:ext cx="1047724" cy="30479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55290" y="1285844"/>
            <a:ext cx="75207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PRACTICE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602894" y="1838280"/>
            <a:ext cx="10676877" cy="71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 err="1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CodingHub</a:t>
            </a:r>
            <a:r>
              <a:rPr lang="en-US" sz="45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</a:t>
            </a:r>
            <a:r>
              <a:rPr lang="en-US" sz="4500" b="1" dirty="0" err="1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编码经验分享</a:t>
            </a:r>
            <a:endParaRPr lang="en-US" sz="4500" dirty="0"/>
          </a:p>
        </p:txBody>
      </p:sp>
      <p:sp>
        <p:nvSpPr>
          <p:cNvPr id="9" name="Text 2"/>
          <p:cNvSpPr/>
          <p:nvPr/>
        </p:nvSpPr>
        <p:spPr>
          <a:xfrm>
            <a:off x="602894" y="2781232"/>
            <a:ext cx="10676877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 Coding 工具组合 × 问题定位 × 实战经验</a:t>
            </a:r>
            <a:endParaRPr lang="en-US" sz="18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894" y="3543213"/>
            <a:ext cx="914377" cy="38099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894" y="4067075"/>
            <a:ext cx="133347" cy="133347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12439" y="4057550"/>
            <a:ext cx="213316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Spec-kit · OpenSpec · Superpowers</a:t>
            </a:r>
            <a:endParaRPr lang="en-US" sz="105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1253" y="4067075"/>
            <a:ext cx="171446" cy="133347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488897" y="4057550"/>
            <a:ext cx="15426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CodeBuddy · MCP · Skills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B4273F39-62EB-44FE-B99B-154CCABBB1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8620" y="2781232"/>
            <a:ext cx="6712176" cy="3011071"/>
          </a:xfrm>
          <a:prstGeom prst="rect">
            <a:avLst/>
          </a:prstGeom>
        </p:spPr>
      </p:pic>
      <p:pic>
        <p:nvPicPr>
          <p:cNvPr id="17" name="Image 6" descr="preencoded.png">
            <a:extLst>
              <a:ext uri="{FF2B5EF4-FFF2-40B4-BE49-F238E27FC236}">
                <a16:creationId xmlns="" xmlns:a16="http://schemas.microsoft.com/office/drawing/2014/main" id="{7D2769B9-AE15-44CB-BCF5-4C09AF2676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0955" y="6295870"/>
            <a:ext cx="133347" cy="133347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="" xmlns:a16="http://schemas.microsoft.com/office/drawing/2014/main" id="{F12C067E-FBA5-4E3B-A94B-032CD908E304}"/>
              </a:ext>
            </a:extLst>
          </p:cNvPr>
          <p:cNvSpPr/>
          <p:nvPr/>
        </p:nvSpPr>
        <p:spPr>
          <a:xfrm>
            <a:off x="9530500" y="6286345"/>
            <a:ext cx="213316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Created by </a:t>
            </a:r>
            <a:r>
              <a:rPr lang="en-US" sz="1050" dirty="0" err="1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ima</a:t>
            </a:r>
            <a:r>
              <a:rPr lang="en-US" sz="105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 copilot , Edit by wangbao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495288"/>
            <a:ext cx="57149" cy="3047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634" y="457189"/>
            <a:ext cx="3018969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端到端开发测试概览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647684" y="952476"/>
            <a:ext cx="1109596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Spec-kit | </a:t>
            </a:r>
            <a:r>
              <a:rPr lang="en-US" sz="1350" dirty="0" err="1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OpenSpec</a:t>
            </a:r>
            <a:r>
              <a:rPr lang="en-US" sz="135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Superpowers + UI-UX-Pro-Max+ OpenCLI 完整链路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10" y="1523962"/>
            <a:ext cx="533387" cy="53338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05" y="1695408"/>
            <a:ext cx="142871" cy="19049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9585" y="2133547"/>
            <a:ext cx="55205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zh-CN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</a:rPr>
              <a:t>Specify</a:t>
            </a:r>
            <a:endParaRPr lang="en-US" sz="1050" dirty="0"/>
          </a:p>
        </p:txBody>
      </p:sp>
      <p:sp>
        <p:nvSpPr>
          <p:cNvPr id="9" name="Text 3"/>
          <p:cNvSpPr/>
          <p:nvPr/>
        </p:nvSpPr>
        <p:spPr>
          <a:xfrm>
            <a:off x="609585" y="2324042"/>
            <a:ext cx="55205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规格定义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05" y="1924002"/>
            <a:ext cx="95248" cy="152396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2161" y="1523962"/>
            <a:ext cx="533387" cy="533387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656" y="1695408"/>
            <a:ext cx="142871" cy="190495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2562161" y="2133547"/>
            <a:ext cx="54253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</a:rPr>
              <a:t>Plan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2562161" y="2324042"/>
            <a:ext cx="5425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方案规划</a:t>
            </a:r>
            <a:endParaRPr lang="en-US" sz="9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3231" y="1924002"/>
            <a:ext cx="95248" cy="152396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886" y="1523962"/>
            <a:ext cx="533387" cy="533387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757" y="1695408"/>
            <a:ext cx="238119" cy="190495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495688" y="2133547"/>
            <a:ext cx="69492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4495688" y="2324042"/>
            <a:ext cx="69492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代码实现</a:t>
            </a:r>
            <a:endParaRPr lang="en-US" sz="9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679" y="1924002"/>
            <a:ext cx="95248" cy="152396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531" y="1523962"/>
            <a:ext cx="533387" cy="533387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4977" y="1695408"/>
            <a:ext cx="190495" cy="19049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581610" y="2133547"/>
            <a:ext cx="85684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</a:rPr>
              <a:t>Validate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6581610" y="2324042"/>
            <a:ext cx="85684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验证确认</a:t>
            </a:r>
            <a:endParaRPr lang="en-US" sz="9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523" y="1924002"/>
            <a:ext cx="95248" cy="152396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6128" y="1523962"/>
            <a:ext cx="533387" cy="533387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7098" y="1695408"/>
            <a:ext cx="171446" cy="19049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8829454" y="2133547"/>
            <a:ext cx="67587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zh-CN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</a:t>
            </a:r>
            <a:r>
              <a:rPr lang="en-US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est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8829454" y="2324042"/>
            <a:ext cx="675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</a:rPr>
              <a:t>测试</a:t>
            </a:r>
            <a:endParaRPr lang="en-US" sz="90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3396" y="1924002"/>
            <a:ext cx="95248" cy="152396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526" y="1523962"/>
            <a:ext cx="533387" cy="533387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3971" y="1695408"/>
            <a:ext cx="190495" cy="190495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10896328" y="2133547"/>
            <a:ext cx="69492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Repair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10896328" y="2324042"/>
            <a:ext cx="69492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问题修复验证</a:t>
            </a:r>
            <a:endParaRPr lang="en-US" sz="900" dirty="0"/>
          </a:p>
        </p:txBody>
      </p:sp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189" y="2781229"/>
            <a:ext cx="11199352" cy="3982035"/>
          </a:xfrm>
          <a:prstGeom prst="rect">
            <a:avLst/>
          </a:prstGeom>
        </p:spPr>
      </p:pic>
      <p:sp>
        <p:nvSpPr>
          <p:cNvPr id="76" name="矩形 75">
            <a:extLst>
              <a:ext uri="{FF2B5EF4-FFF2-40B4-BE49-F238E27FC236}">
                <a16:creationId xmlns="" xmlns:a16="http://schemas.microsoft.com/office/drawing/2014/main" id="{0DA27CB0-4984-4BBB-AC90-208A94F58E44}"/>
              </a:ext>
            </a:extLst>
          </p:cNvPr>
          <p:cNvSpPr/>
          <p:nvPr/>
        </p:nvSpPr>
        <p:spPr>
          <a:xfrm>
            <a:off x="457189" y="1293341"/>
            <a:ext cx="7335806" cy="1468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="" xmlns:a16="http://schemas.microsoft.com/office/drawing/2014/main" id="{8BDEE4AF-A573-4982-B90C-33CC01C28BCD}"/>
              </a:ext>
            </a:extLst>
          </p:cNvPr>
          <p:cNvSpPr txBox="1"/>
          <p:nvPr/>
        </p:nvSpPr>
        <p:spPr>
          <a:xfrm>
            <a:off x="3478277" y="242691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SDD/TDD</a:t>
            </a:r>
            <a:endParaRPr lang="zh-CN" altLang="en-US" dirty="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763" y="3066971"/>
            <a:ext cx="9926864" cy="3441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495288"/>
            <a:ext cx="57149" cy="3047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634" y="457189"/>
            <a:ext cx="2018869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方案设计编码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647684" y="952476"/>
            <a:ext cx="1109596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Spec-kit   / OpenSpec + Superpowers </a:t>
            </a:r>
            <a:r>
              <a:rPr lang="en-US" sz="1350" dirty="0" err="1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组合</a:t>
            </a:r>
            <a:r>
              <a:rPr lang="en-US" sz="135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 </a:t>
            </a:r>
            <a:r>
              <a:rPr lang="zh-CN" altLang="en-US" sz="1350" dirty="0">
                <a:solidFill>
                  <a:srgbClr val="64748B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二选一即可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1447764"/>
            <a:ext cx="5524362" cy="495287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08" y="1723982"/>
            <a:ext cx="171446" cy="15239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42951" y="1685883"/>
            <a:ext cx="171407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Spec-kit </a:t>
            </a:r>
            <a:r>
              <a:rPr lang="en-US" sz="1200" b="1" dirty="0" err="1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核心工作流</a:t>
            </a:r>
            <a:r>
              <a:rPr lang="zh-CN" alt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（以</a:t>
            </a:r>
            <a:r>
              <a:rPr lang="en-US" altLang="zh-CN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feature</a:t>
            </a:r>
            <a:r>
              <a:rPr lang="zh-CN" alt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为粒度）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08" y="2066873"/>
            <a:ext cx="5048124" cy="685783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04" y="2219270"/>
            <a:ext cx="219070" cy="19049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923902" y="2238319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4"/>
          <p:cNvSpPr/>
          <p:nvPr/>
        </p:nvSpPr>
        <p:spPr>
          <a:xfrm>
            <a:off x="1142971" y="2219270"/>
            <a:ext cx="12949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1114397" y="2447864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自然语言 → spec.md，聚焦 WHAT 和 WHY</a:t>
            </a:r>
            <a:endParaRPr lang="en-US" sz="9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4" y="3625513"/>
            <a:ext cx="5048124" cy="685783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080" y="3777910"/>
            <a:ext cx="219070" cy="19049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76278" y="3796959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7"/>
          <p:cNvSpPr/>
          <p:nvPr/>
        </p:nvSpPr>
        <p:spPr>
          <a:xfrm>
            <a:off x="1095347" y="3777910"/>
            <a:ext cx="105686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/speckit.plan</a:t>
            </a:r>
            <a:endParaRPr lang="en-US" sz="1050" dirty="0"/>
          </a:p>
        </p:txBody>
      </p:sp>
      <p:sp>
        <p:nvSpPr>
          <p:cNvPr id="18" name="Text 8"/>
          <p:cNvSpPr/>
          <p:nvPr/>
        </p:nvSpPr>
        <p:spPr>
          <a:xfrm>
            <a:off x="1066773" y="4006504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spec.md → plan.md + data-model + api-contracts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4" y="4425593"/>
            <a:ext cx="5048124" cy="68578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080" y="4577990"/>
            <a:ext cx="219070" cy="19049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76278" y="4597039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0"/>
          <p:cNvSpPr/>
          <p:nvPr/>
        </p:nvSpPr>
        <p:spPr>
          <a:xfrm>
            <a:off x="1095347" y="4577990"/>
            <a:ext cx="113306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/speckit.tasks</a:t>
            </a:r>
            <a:endParaRPr lang="en-US" sz="1050" dirty="0"/>
          </a:p>
        </p:txBody>
      </p:sp>
      <p:sp>
        <p:nvSpPr>
          <p:cNvPr id="23" name="Text 11"/>
          <p:cNvSpPr/>
          <p:nvPr/>
        </p:nvSpPr>
        <p:spPr>
          <a:xfrm>
            <a:off x="1066773" y="4806584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按用户故事拆分为原子任务（US1~US5）</a:t>
            </a:r>
            <a:endParaRPr lang="en-US" sz="9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4" y="5225673"/>
            <a:ext cx="5048124" cy="685783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080" y="5378070"/>
            <a:ext cx="219070" cy="190495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76278" y="5397119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13"/>
          <p:cNvSpPr/>
          <p:nvPr/>
        </p:nvSpPr>
        <p:spPr>
          <a:xfrm>
            <a:off x="1095347" y="5378070"/>
            <a:ext cx="145690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/speckit.implement</a:t>
            </a:r>
            <a:endParaRPr lang="en-US" sz="1050" dirty="0"/>
          </a:p>
        </p:txBody>
      </p:sp>
      <p:sp>
        <p:nvSpPr>
          <p:cNvPr id="28" name="Text 14"/>
          <p:cNvSpPr/>
          <p:nvPr/>
        </p:nvSpPr>
        <p:spPr>
          <a:xfrm>
            <a:off x="1066773" y="5606664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 phase 顺序执行，标记完成，失败暂停</a:t>
            </a:r>
            <a:endParaRPr lang="en-US" sz="900" dirty="0"/>
          </a:p>
        </p:txBody>
      </p:sp>
      <p:sp>
        <p:nvSpPr>
          <p:cNvPr id="29" name="Text 15"/>
          <p:cNvSpPr/>
          <p:nvPr/>
        </p:nvSpPr>
        <p:spPr>
          <a:xfrm>
            <a:off x="647684" y="6025753"/>
            <a:ext cx="505726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另有</a:t>
            </a:r>
            <a:r>
              <a:rPr 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</a:t>
            </a:r>
            <a:r>
              <a:rPr lang="en-US" sz="900" b="1" dirty="0" err="1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consititution</a:t>
            </a:r>
            <a:r>
              <a:rPr 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/ checklist / analyze / tasks-to-issues 等辅助命令</a:t>
            </a:r>
            <a:endParaRPr lang="en-US" sz="9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5667" y="2028774"/>
            <a:ext cx="5524362" cy="3667033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264" y="1723982"/>
            <a:ext cx="190495" cy="152396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714957" y="1685883"/>
            <a:ext cx="225698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OpenSpec + Superpowers </a:t>
            </a:r>
            <a:r>
              <a:rPr lang="en-US" sz="1200" b="1" dirty="0" err="1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组合</a:t>
            </a:r>
            <a:r>
              <a:rPr lang="zh-CN" alt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核心工作流（以</a:t>
            </a:r>
            <a:r>
              <a:rPr lang="en-US" altLang="zh-CN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change</a:t>
            </a:r>
            <a:r>
              <a:rPr lang="zh-CN" altLang="en-US" sz="1200" b="1" dirty="0">
                <a:solidFill>
                  <a:srgbClr val="0F172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为粒度）</a:t>
            </a:r>
            <a:endParaRPr lang="en-US" sz="1200" dirty="0"/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="" xmlns:a16="http://schemas.microsoft.com/office/drawing/2014/main" id="{FD2D8158-29F0-46E7-A60A-9281F22BD9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3946" y="2028774"/>
            <a:ext cx="5048124" cy="685783"/>
          </a:xfrm>
          <a:prstGeom prst="rect">
            <a:avLst/>
          </a:prstGeom>
        </p:spPr>
      </p:pic>
      <p:pic>
        <p:nvPicPr>
          <p:cNvPr id="55" name="Image 5" descr="preencoded.png">
            <a:extLst>
              <a:ext uri="{FF2B5EF4-FFF2-40B4-BE49-F238E27FC236}">
                <a16:creationId xmlns="" xmlns:a16="http://schemas.microsoft.com/office/drawing/2014/main" id="{F6C53B23-B104-4928-86F8-C8C203BCA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342" y="2181171"/>
            <a:ext cx="219070" cy="190495"/>
          </a:xfrm>
          <a:prstGeom prst="rect">
            <a:avLst/>
          </a:prstGeom>
        </p:spPr>
      </p:pic>
      <p:sp>
        <p:nvSpPr>
          <p:cNvPr id="56" name="Text 3">
            <a:extLst>
              <a:ext uri="{FF2B5EF4-FFF2-40B4-BE49-F238E27FC236}">
                <a16:creationId xmlns="" xmlns:a16="http://schemas.microsoft.com/office/drawing/2014/main" id="{CE70395C-2A45-419C-A05E-AE0E1F6D1621}"/>
              </a:ext>
            </a:extLst>
          </p:cNvPr>
          <p:cNvSpPr/>
          <p:nvPr/>
        </p:nvSpPr>
        <p:spPr>
          <a:xfrm>
            <a:off x="6362540" y="2200220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4">
            <a:extLst>
              <a:ext uri="{FF2B5EF4-FFF2-40B4-BE49-F238E27FC236}">
                <a16:creationId xmlns="" xmlns:a16="http://schemas.microsoft.com/office/drawing/2014/main" id="{FEE86159-C399-4D50-8176-019C12D34755}"/>
              </a:ext>
            </a:extLst>
          </p:cNvPr>
          <p:cNvSpPr/>
          <p:nvPr/>
        </p:nvSpPr>
        <p:spPr>
          <a:xfrm>
            <a:off x="6581609" y="2181171"/>
            <a:ext cx="12949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opsx.explore</a:t>
            </a:r>
            <a:endParaRPr lang="en-US" sz="1050" dirty="0"/>
          </a:p>
        </p:txBody>
      </p:sp>
      <p:sp>
        <p:nvSpPr>
          <p:cNvPr id="58" name="Text 5">
            <a:extLst>
              <a:ext uri="{FF2B5EF4-FFF2-40B4-BE49-F238E27FC236}">
                <a16:creationId xmlns="" xmlns:a16="http://schemas.microsoft.com/office/drawing/2014/main" id="{2DB0C5FE-FFA3-425B-888E-BFBBBFF0C8B9}"/>
              </a:ext>
            </a:extLst>
          </p:cNvPr>
          <p:cNvSpPr/>
          <p:nvPr/>
        </p:nvSpPr>
        <p:spPr>
          <a:xfrm>
            <a:off x="6553035" y="2409765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</a:rPr>
              <a:t>探索 思考</a:t>
            </a:r>
            <a:endParaRPr lang="en-US" sz="900" dirty="0"/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="" xmlns:a16="http://schemas.microsoft.com/office/drawing/2014/main" id="{3CF764FA-1D3D-4666-9E9D-50BE4E411B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3947" y="3630150"/>
            <a:ext cx="5048124" cy="685783"/>
          </a:xfrm>
          <a:prstGeom prst="rect">
            <a:avLst/>
          </a:prstGeom>
        </p:spPr>
      </p:pic>
      <p:pic>
        <p:nvPicPr>
          <p:cNvPr id="60" name="Image 7" descr="preencoded.png">
            <a:extLst>
              <a:ext uri="{FF2B5EF4-FFF2-40B4-BE49-F238E27FC236}">
                <a16:creationId xmlns="" xmlns:a16="http://schemas.microsoft.com/office/drawing/2014/main" id="{622AA18C-01CA-48BF-90C1-68BEBC7326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343" y="3782547"/>
            <a:ext cx="219070" cy="190495"/>
          </a:xfrm>
          <a:prstGeom prst="rect">
            <a:avLst/>
          </a:prstGeom>
        </p:spPr>
      </p:pic>
      <p:sp>
        <p:nvSpPr>
          <p:cNvPr id="61" name="Text 6">
            <a:extLst>
              <a:ext uri="{FF2B5EF4-FFF2-40B4-BE49-F238E27FC236}">
                <a16:creationId xmlns="" xmlns:a16="http://schemas.microsoft.com/office/drawing/2014/main" id="{30512355-1727-4B45-81B9-8CAEA0CEC191}"/>
              </a:ext>
            </a:extLst>
          </p:cNvPr>
          <p:cNvSpPr/>
          <p:nvPr/>
        </p:nvSpPr>
        <p:spPr>
          <a:xfrm>
            <a:off x="6362541" y="3801596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7">
            <a:extLst>
              <a:ext uri="{FF2B5EF4-FFF2-40B4-BE49-F238E27FC236}">
                <a16:creationId xmlns="" xmlns:a16="http://schemas.microsoft.com/office/drawing/2014/main" id="{10897837-E419-4AF5-97D5-BB73AEC7B2EC}"/>
              </a:ext>
            </a:extLst>
          </p:cNvPr>
          <p:cNvSpPr/>
          <p:nvPr/>
        </p:nvSpPr>
        <p:spPr>
          <a:xfrm>
            <a:off x="6581610" y="3782547"/>
            <a:ext cx="105686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opsx.write</a:t>
            </a: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-plan</a:t>
            </a:r>
            <a:endParaRPr lang="en-US" sz="1050" dirty="0"/>
          </a:p>
        </p:txBody>
      </p:sp>
      <p:sp>
        <p:nvSpPr>
          <p:cNvPr id="63" name="Text 8">
            <a:extLst>
              <a:ext uri="{FF2B5EF4-FFF2-40B4-BE49-F238E27FC236}">
                <a16:creationId xmlns="" xmlns:a16="http://schemas.microsoft.com/office/drawing/2014/main" id="{A34B6D7E-EE70-48BD-843E-4FFB7E88588A}"/>
              </a:ext>
            </a:extLst>
          </p:cNvPr>
          <p:cNvSpPr/>
          <p:nvPr/>
        </p:nvSpPr>
        <p:spPr>
          <a:xfrm>
            <a:off x="6553036" y="4011141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zh-CN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tasks</a:t>
            </a:r>
            <a:r>
              <a:rPr 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.md → plan.md</a:t>
            </a:r>
            <a:endParaRPr lang="en-US" sz="900" dirty="0"/>
          </a:p>
        </p:txBody>
      </p:sp>
      <p:pic>
        <p:nvPicPr>
          <p:cNvPr id="64" name="Image 8" descr="preencoded.png">
            <a:extLst>
              <a:ext uri="{FF2B5EF4-FFF2-40B4-BE49-F238E27FC236}">
                <a16:creationId xmlns="" xmlns:a16="http://schemas.microsoft.com/office/drawing/2014/main" id="{5FCE2F55-258B-48BC-920B-FDD792F27C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7867" y="4420705"/>
            <a:ext cx="5264203" cy="685783"/>
          </a:xfrm>
          <a:prstGeom prst="rect">
            <a:avLst/>
          </a:prstGeom>
        </p:spPr>
      </p:pic>
      <p:pic>
        <p:nvPicPr>
          <p:cNvPr id="65" name="Image 9" descr="preencoded.png">
            <a:extLst>
              <a:ext uri="{FF2B5EF4-FFF2-40B4-BE49-F238E27FC236}">
                <a16:creationId xmlns="" xmlns:a16="http://schemas.microsoft.com/office/drawing/2014/main" id="{66755AFF-AB3A-4678-9227-5A3EDCFFE7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343" y="4582627"/>
            <a:ext cx="219070" cy="190495"/>
          </a:xfrm>
          <a:prstGeom prst="rect">
            <a:avLst/>
          </a:prstGeom>
        </p:spPr>
      </p:pic>
      <p:sp>
        <p:nvSpPr>
          <p:cNvPr id="66" name="Text 9">
            <a:extLst>
              <a:ext uri="{FF2B5EF4-FFF2-40B4-BE49-F238E27FC236}">
                <a16:creationId xmlns="" xmlns:a16="http://schemas.microsoft.com/office/drawing/2014/main" id="{2D847A3F-EDB3-4D20-ADC4-0D93DA0AC3DF}"/>
              </a:ext>
            </a:extLst>
          </p:cNvPr>
          <p:cNvSpPr/>
          <p:nvPr/>
        </p:nvSpPr>
        <p:spPr>
          <a:xfrm>
            <a:off x="6362541" y="4601676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10">
            <a:extLst>
              <a:ext uri="{FF2B5EF4-FFF2-40B4-BE49-F238E27FC236}">
                <a16:creationId xmlns="" xmlns:a16="http://schemas.microsoft.com/office/drawing/2014/main" id="{B97ADC26-40F4-434F-8119-3CC20CAA5B0C}"/>
              </a:ext>
            </a:extLst>
          </p:cNvPr>
          <p:cNvSpPr/>
          <p:nvPr/>
        </p:nvSpPr>
        <p:spPr>
          <a:xfrm>
            <a:off x="6581610" y="4582627"/>
            <a:ext cx="113306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opsx.executing</a:t>
            </a: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-plans</a:t>
            </a:r>
            <a:endParaRPr lang="en-US" sz="1050" dirty="0"/>
          </a:p>
        </p:txBody>
      </p:sp>
      <p:sp>
        <p:nvSpPr>
          <p:cNvPr id="68" name="Text 11">
            <a:extLst>
              <a:ext uri="{FF2B5EF4-FFF2-40B4-BE49-F238E27FC236}">
                <a16:creationId xmlns="" xmlns:a16="http://schemas.microsoft.com/office/drawing/2014/main" id="{88B6E537-1AB0-483F-ADC9-EEB066CDA824}"/>
              </a:ext>
            </a:extLst>
          </p:cNvPr>
          <p:cNvSpPr/>
          <p:nvPr/>
        </p:nvSpPr>
        <p:spPr>
          <a:xfrm>
            <a:off x="6553036" y="4811221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SDD TDD</a:t>
            </a:r>
            <a:r>
              <a:rPr lang="zh-CN" alt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</a:rPr>
              <a:t>开发</a:t>
            </a:r>
            <a:r>
              <a:rPr lang="zh-CN" altLang="en-US" sz="900" dirty="0"/>
              <a:t>，红绿</a:t>
            </a:r>
            <a:r>
              <a:rPr lang="zh-CN" alt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</a:rPr>
              <a:t>测试</a:t>
            </a:r>
            <a:r>
              <a:rPr lang="zh-CN" altLang="en-US" sz="900" dirty="0"/>
              <a:t>循环</a:t>
            </a:r>
            <a:endParaRPr lang="en-US" sz="900" dirty="0"/>
          </a:p>
        </p:txBody>
      </p:sp>
      <p:pic>
        <p:nvPicPr>
          <p:cNvPr id="69" name="Image 10" descr="preencoded.png">
            <a:extLst>
              <a:ext uri="{FF2B5EF4-FFF2-40B4-BE49-F238E27FC236}">
                <a16:creationId xmlns="" xmlns:a16="http://schemas.microsoft.com/office/drawing/2014/main" id="{43C682A9-6C9A-49F0-943E-C7D221F4B9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3947" y="5230310"/>
            <a:ext cx="5048124" cy="685783"/>
          </a:xfrm>
          <a:prstGeom prst="rect">
            <a:avLst/>
          </a:prstGeom>
        </p:spPr>
      </p:pic>
      <p:pic>
        <p:nvPicPr>
          <p:cNvPr id="70" name="Image 11" descr="preencoded.png">
            <a:extLst>
              <a:ext uri="{FF2B5EF4-FFF2-40B4-BE49-F238E27FC236}">
                <a16:creationId xmlns="" xmlns:a16="http://schemas.microsoft.com/office/drawing/2014/main" id="{2CD373D9-5C29-4B1F-9665-A3E8963278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343" y="5382707"/>
            <a:ext cx="219070" cy="190495"/>
          </a:xfrm>
          <a:prstGeom prst="rect">
            <a:avLst/>
          </a:prstGeom>
        </p:spPr>
      </p:pic>
      <p:sp>
        <p:nvSpPr>
          <p:cNvPr id="71" name="Text 12">
            <a:extLst>
              <a:ext uri="{FF2B5EF4-FFF2-40B4-BE49-F238E27FC236}">
                <a16:creationId xmlns="" xmlns:a16="http://schemas.microsoft.com/office/drawing/2014/main" id="{D5C738B6-967A-4E30-82B8-E68C05072E3B}"/>
              </a:ext>
            </a:extLst>
          </p:cNvPr>
          <p:cNvSpPr/>
          <p:nvPr/>
        </p:nvSpPr>
        <p:spPr>
          <a:xfrm>
            <a:off x="6362541" y="5401756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</a:t>
            </a:r>
            <a:endParaRPr lang="en-US" sz="900" dirty="0"/>
          </a:p>
        </p:txBody>
      </p:sp>
      <p:sp>
        <p:nvSpPr>
          <p:cNvPr id="72" name="Text 13">
            <a:extLst>
              <a:ext uri="{FF2B5EF4-FFF2-40B4-BE49-F238E27FC236}">
                <a16:creationId xmlns="" xmlns:a16="http://schemas.microsoft.com/office/drawing/2014/main" id="{4800AB84-7605-40FB-BC83-0EC38B349BFF}"/>
              </a:ext>
            </a:extLst>
          </p:cNvPr>
          <p:cNvSpPr/>
          <p:nvPr/>
        </p:nvSpPr>
        <p:spPr>
          <a:xfrm>
            <a:off x="6581610" y="5382707"/>
            <a:ext cx="145690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altLang="zh-CN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opsx</a:t>
            </a:r>
            <a:r>
              <a:rPr lang="en-US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.archive</a:t>
            </a:r>
            <a:endParaRPr lang="en-US" sz="1050" dirty="0"/>
          </a:p>
        </p:txBody>
      </p:sp>
      <p:sp>
        <p:nvSpPr>
          <p:cNvPr id="73" name="Text 14">
            <a:extLst>
              <a:ext uri="{FF2B5EF4-FFF2-40B4-BE49-F238E27FC236}">
                <a16:creationId xmlns="" xmlns:a16="http://schemas.microsoft.com/office/drawing/2014/main" id="{92925D3B-1329-418D-BFB7-252CFAD68B1F}"/>
              </a:ext>
            </a:extLst>
          </p:cNvPr>
          <p:cNvSpPr/>
          <p:nvPr/>
        </p:nvSpPr>
        <p:spPr>
          <a:xfrm>
            <a:off x="6553036" y="5611301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归档、同步到主规格</a:t>
            </a:r>
            <a:endParaRPr lang="en-US" sz="900" dirty="0"/>
          </a:p>
        </p:txBody>
      </p:sp>
      <p:sp>
        <p:nvSpPr>
          <p:cNvPr id="74" name="Text 15">
            <a:extLst>
              <a:ext uri="{FF2B5EF4-FFF2-40B4-BE49-F238E27FC236}">
                <a16:creationId xmlns="" xmlns:a16="http://schemas.microsoft.com/office/drawing/2014/main" id="{BBFF5940-A3CF-4A64-BA84-F3CA85D55007}"/>
              </a:ext>
            </a:extLst>
          </p:cNvPr>
          <p:cNvSpPr/>
          <p:nvPr/>
        </p:nvSpPr>
        <p:spPr>
          <a:xfrm>
            <a:off x="6133947" y="6030390"/>
            <a:ext cx="505726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另有</a:t>
            </a:r>
            <a:r>
              <a:rPr 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</a:t>
            </a:r>
            <a:r>
              <a:rPr lang="en-US" altLang="zh-CN" sz="900" b="1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apply</a:t>
            </a:r>
            <a:r>
              <a:rPr lang="en-US" sz="900" dirty="0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/ verify / sync/new/continue/ff </a:t>
            </a:r>
            <a:r>
              <a:rPr lang="en-US" sz="900" dirty="0" err="1">
                <a:solidFill>
                  <a:srgbClr val="94A3B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等命令</a:t>
            </a:r>
            <a:endParaRPr lang="en-US" sz="900" dirty="0"/>
          </a:p>
        </p:txBody>
      </p:sp>
      <p:pic>
        <p:nvPicPr>
          <p:cNvPr id="75" name="Image 6" descr="preencoded.png">
            <a:extLst>
              <a:ext uri="{FF2B5EF4-FFF2-40B4-BE49-F238E27FC236}">
                <a16:creationId xmlns="" xmlns:a16="http://schemas.microsoft.com/office/drawing/2014/main" id="{4F2CAC51-D349-4870-A053-37A8515718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4" y="2855127"/>
            <a:ext cx="5048124" cy="685783"/>
          </a:xfrm>
          <a:prstGeom prst="rect">
            <a:avLst/>
          </a:prstGeom>
        </p:spPr>
      </p:pic>
      <p:pic>
        <p:nvPicPr>
          <p:cNvPr id="76" name="Image 7" descr="preencoded.png">
            <a:extLst>
              <a:ext uri="{FF2B5EF4-FFF2-40B4-BE49-F238E27FC236}">
                <a16:creationId xmlns="" xmlns:a16="http://schemas.microsoft.com/office/drawing/2014/main" id="{8CCD3436-C35E-47FB-8258-6B8A13D363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080" y="3007524"/>
            <a:ext cx="219070" cy="190495"/>
          </a:xfrm>
          <a:prstGeom prst="rect">
            <a:avLst/>
          </a:prstGeom>
        </p:spPr>
      </p:pic>
      <p:sp>
        <p:nvSpPr>
          <p:cNvPr id="77" name="Text 6">
            <a:extLst>
              <a:ext uri="{FF2B5EF4-FFF2-40B4-BE49-F238E27FC236}">
                <a16:creationId xmlns="" xmlns:a16="http://schemas.microsoft.com/office/drawing/2014/main" id="{C88494A7-A729-4804-80E6-574A76E99FDB}"/>
              </a:ext>
            </a:extLst>
          </p:cNvPr>
          <p:cNvSpPr/>
          <p:nvPr/>
        </p:nvSpPr>
        <p:spPr>
          <a:xfrm>
            <a:off x="876278" y="3026573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900" dirty="0"/>
          </a:p>
        </p:txBody>
      </p:sp>
      <p:sp>
        <p:nvSpPr>
          <p:cNvPr id="78" name="Text 7">
            <a:extLst>
              <a:ext uri="{FF2B5EF4-FFF2-40B4-BE49-F238E27FC236}">
                <a16:creationId xmlns="" xmlns:a16="http://schemas.microsoft.com/office/drawing/2014/main" id="{7D82EB2A-B548-4890-AE95-9EA983E7E400}"/>
              </a:ext>
            </a:extLst>
          </p:cNvPr>
          <p:cNvSpPr/>
          <p:nvPr/>
        </p:nvSpPr>
        <p:spPr>
          <a:xfrm>
            <a:off x="1095347" y="3007524"/>
            <a:ext cx="105686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</a:t>
            </a:r>
            <a:r>
              <a:rPr lang="en-US" altLang="zh-CN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</a:t>
            </a:r>
            <a:endParaRPr lang="en-US" sz="1050" dirty="0"/>
          </a:p>
        </p:txBody>
      </p:sp>
      <p:sp>
        <p:nvSpPr>
          <p:cNvPr id="79" name="Text 8">
            <a:extLst>
              <a:ext uri="{FF2B5EF4-FFF2-40B4-BE49-F238E27FC236}">
                <a16:creationId xmlns="" xmlns:a16="http://schemas.microsoft.com/office/drawing/2014/main" id="{6165082E-ECEA-4DB7-99C7-A9058DCEA7A2}"/>
              </a:ext>
            </a:extLst>
          </p:cNvPr>
          <p:cNvSpPr/>
          <p:nvPr/>
        </p:nvSpPr>
        <p:spPr>
          <a:xfrm>
            <a:off x="1066773" y="3236118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识别并解决功能规格中的模糊或不完整之处</a:t>
            </a:r>
            <a:endParaRPr lang="en-US" sz="90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="" xmlns:a16="http://schemas.microsoft.com/office/drawing/2014/main" id="{E46A1CCD-06A6-40E3-BDAB-83772DE287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897" y="2825506"/>
            <a:ext cx="5048124" cy="685783"/>
          </a:xfrm>
          <a:prstGeom prst="rect">
            <a:avLst/>
          </a:prstGeom>
        </p:spPr>
      </p:pic>
      <p:pic>
        <p:nvPicPr>
          <p:cNvPr id="81" name="Image 7" descr="preencoded.png">
            <a:extLst>
              <a:ext uri="{FF2B5EF4-FFF2-40B4-BE49-F238E27FC236}">
                <a16:creationId xmlns="" xmlns:a16="http://schemas.microsoft.com/office/drawing/2014/main" id="{CF9235F2-6280-4DCD-B5E8-BC49E301CA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293" y="2977903"/>
            <a:ext cx="219070" cy="190495"/>
          </a:xfrm>
          <a:prstGeom prst="rect">
            <a:avLst/>
          </a:prstGeom>
        </p:spPr>
      </p:pic>
      <p:sp>
        <p:nvSpPr>
          <p:cNvPr id="82" name="Text 6">
            <a:extLst>
              <a:ext uri="{FF2B5EF4-FFF2-40B4-BE49-F238E27FC236}">
                <a16:creationId xmlns="" xmlns:a16="http://schemas.microsoft.com/office/drawing/2014/main" id="{F9CC4252-8871-4EB6-85E1-3083FC8B2814}"/>
              </a:ext>
            </a:extLst>
          </p:cNvPr>
          <p:cNvSpPr/>
          <p:nvPr/>
        </p:nvSpPr>
        <p:spPr>
          <a:xfrm>
            <a:off x="6343491" y="2996952"/>
            <a:ext cx="758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900" dirty="0"/>
          </a:p>
        </p:txBody>
      </p:sp>
      <p:sp>
        <p:nvSpPr>
          <p:cNvPr id="83" name="Text 7">
            <a:extLst>
              <a:ext uri="{FF2B5EF4-FFF2-40B4-BE49-F238E27FC236}">
                <a16:creationId xmlns="" xmlns:a16="http://schemas.microsoft.com/office/drawing/2014/main" id="{90681A56-EE17-456B-9715-2FD629573FA6}"/>
              </a:ext>
            </a:extLst>
          </p:cNvPr>
          <p:cNvSpPr/>
          <p:nvPr/>
        </p:nvSpPr>
        <p:spPr>
          <a:xfrm>
            <a:off x="6562560" y="2977903"/>
            <a:ext cx="105686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opsx.propose</a:t>
            </a:r>
            <a:endParaRPr lang="en-US" sz="1050" dirty="0"/>
          </a:p>
        </p:txBody>
      </p:sp>
      <p:sp>
        <p:nvSpPr>
          <p:cNvPr id="84" name="Text 8">
            <a:extLst>
              <a:ext uri="{FF2B5EF4-FFF2-40B4-BE49-F238E27FC236}">
                <a16:creationId xmlns="" xmlns:a16="http://schemas.microsoft.com/office/drawing/2014/main" id="{A32B6C77-7807-44A2-BF9C-FEF965CD352A}"/>
              </a:ext>
            </a:extLst>
          </p:cNvPr>
          <p:cNvSpPr/>
          <p:nvPr/>
        </p:nvSpPr>
        <p:spPr>
          <a:xfrm>
            <a:off x="6533986" y="3206497"/>
            <a:ext cx="44857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zh-CN" sz="900" dirty="0" err="1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自然语言</a:t>
            </a:r>
            <a:r>
              <a:rPr lang="en-US" altLang="zh-CN" sz="900" dirty="0">
                <a:solidFill>
                  <a:srgbClr val="475569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→ spec.md + proposal.md + design.md +  tasks.md</a:t>
            </a:r>
            <a:endParaRPr lang="en-US" alt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203</Words>
  <Application>Microsoft Office PowerPoint</Application>
  <PresentationFormat>宽屏</PresentationFormat>
  <Paragraphs>60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72</cp:revision>
  <dcterms:created xsi:type="dcterms:W3CDTF">2026-06-02T01:16:43Z</dcterms:created>
  <dcterms:modified xsi:type="dcterms:W3CDTF">2026-06-24T08:52:38Z</dcterms:modified>
</cp:coreProperties>
</file>